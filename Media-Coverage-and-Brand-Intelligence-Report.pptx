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6" r:id="rId5"/>
    <p:sldId id="267" r:id="rId6"/>
    <p:sldId id="260" r:id="rId7"/>
    <p:sldId id="268" r:id="rId8"/>
    <p:sldId id="269" r:id="rId9"/>
    <p:sldId id="270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erriweather" panose="00000500000000000000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34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24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64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5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6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25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53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jpe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jpe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3798" y="2427327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Media Coverage &amp; Brand Intelligence Report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959274"/>
            <a:ext cx="7416403" cy="1204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Brand: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Tesla | </a:t>
            </a: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Source: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NewsAPI | </a:t>
            </a: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Analysis Period: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Recent Coverage Window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6465345"/>
            <a:ext cx="7416403" cy="98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Prepared by: Shivanshu Nigam</a:t>
            </a:r>
            <a:endParaRPr lang="en-US" sz="1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2BFA379A-5A1B-4496-B96F-7240B5D00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84565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Media Intelligence Requires Structured Analysis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3320772"/>
            <a:ext cx="4136350" cy="3624143"/>
          </a:xfrm>
          <a:prstGeom prst="roundRect">
            <a:avLst>
              <a:gd name="adj" fmla="val 286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855" y="3582829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609D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9452" y="3786426"/>
            <a:ext cx="333137" cy="3331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5855" y="4570095"/>
            <a:ext cx="349853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 Measurement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25855" y="5103614"/>
            <a:ext cx="3612237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Structured coding enables consistent classification of coverage volume, sentiment, and topic distribution.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3320772"/>
            <a:ext cx="4136350" cy="3624143"/>
          </a:xfrm>
          <a:prstGeom prst="roundRect">
            <a:avLst>
              <a:gd name="adj" fmla="val 286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09022" y="3582829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609D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2619" y="3786426"/>
            <a:ext cx="333137" cy="333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9022" y="457009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Trend Identification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509022" y="5103614"/>
            <a:ext cx="3612237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Systematic analysis reveals patterns in media attention and narrative shifts over time.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3320772"/>
            <a:ext cx="4136350" cy="3624143"/>
          </a:xfrm>
          <a:prstGeom prst="roundRect">
            <a:avLst>
              <a:gd name="adj" fmla="val 286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92189" y="3582829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609D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95786" y="3786426"/>
            <a:ext cx="333137" cy="333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2189" y="457009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Risk Detection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9761221" y="5103614"/>
            <a:ext cx="3743206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Monitoring coverage volatility and sentiment changes helps identify potential reputation risks early.</a:t>
            </a:r>
            <a:endParaRPr lang="en-US" sz="1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78225C-F9C3-452D-A634-D506E6DCE6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5814" y="7594163"/>
            <a:ext cx="2280286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86326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Executive Summary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351246"/>
            <a:ext cx="6327934" cy="2272546"/>
          </a:xfrm>
          <a:prstGeom prst="roundRect">
            <a:avLst>
              <a:gd name="adj" fmla="val 456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095" y="262854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Coverage Stability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1095" y="3162062"/>
            <a:ext cx="5773341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Volume remained consistent with no major spikes, indicating absence of crisis-driven attention or breaking news events.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38549" y="2351246"/>
            <a:ext cx="6328053" cy="2272546"/>
          </a:xfrm>
          <a:prstGeom prst="roundRect">
            <a:avLst>
              <a:gd name="adj" fmla="val 456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15845" y="262854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Topic Distribution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15845" y="3162062"/>
            <a:ext cx="577346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narratives dominated coverage, followed by finance-related discussions reinforcing innovation-centric perception.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3798" y="4870609"/>
            <a:ext cx="6327934" cy="2272546"/>
          </a:xfrm>
          <a:prstGeom prst="roundRect">
            <a:avLst>
              <a:gd name="adj" fmla="val 456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1095" y="514790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Sentiment Shift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1095" y="5681424"/>
            <a:ext cx="5773341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Gradual movement toward neutral coverage with declining negative sentiment and modest reduction in positive framing.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38549" y="4870609"/>
            <a:ext cx="6328053" cy="2272546"/>
          </a:xfrm>
          <a:prstGeom prst="roundRect">
            <a:avLst>
              <a:gd name="adj" fmla="val 456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15845" y="514790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Brand Visibility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15845" y="5681424"/>
            <a:ext cx="577346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 articles referenced Tesla as secondary mention, suggesting steady visibility within broader industry contexts.</a:t>
            </a:r>
            <a:endParaRPr lang="en-US" sz="1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CE5FAA-1010-4266-8994-5319E5C15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0114" y="7629525"/>
            <a:ext cx="2280286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96591"/>
            <a:ext cx="8758476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Daily Media Coverage Volume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458" y="2588003"/>
            <a:ext cx="5422702" cy="41472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74336" y="26848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Insight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974336" y="3317200"/>
            <a:ext cx="4799767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Coverage remained consistent throughout the period, with daily article counts fluctuating within a narrow range (47-50 articles).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974336" y="5118497"/>
            <a:ext cx="4799767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sharp spikes suggest stable media attention with no major events during this timeframe.</a:t>
            </a: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C6EA7-0666-4F8C-9C6E-94D246624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8207" y="7629525"/>
            <a:ext cx="2280286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2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558" y="511135"/>
            <a:ext cx="5547360" cy="58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Media Coverage by Topic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8" y="1579721"/>
            <a:ext cx="5638800" cy="52044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7783" y="1602938"/>
            <a:ext cx="185857" cy="18585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927783" y="1872734"/>
            <a:ext cx="5059680" cy="2286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6" name="Text 2"/>
          <p:cNvSpPr/>
          <p:nvPr/>
        </p:nvSpPr>
        <p:spPr>
          <a:xfrm>
            <a:off x="8927783" y="2011323"/>
            <a:ext cx="25712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Technology: 45 articles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927783" y="2487454"/>
            <a:ext cx="5059680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Dominant topic accounting for majority of coverage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7783" y="3133130"/>
            <a:ext cx="185857" cy="18585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927783" y="3402925"/>
            <a:ext cx="5059680" cy="2286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0" name="Text 5"/>
          <p:cNvSpPr/>
          <p:nvPr/>
        </p:nvSpPr>
        <p:spPr>
          <a:xfrm>
            <a:off x="8927783" y="3541514"/>
            <a:ext cx="23233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Finance: 19 articles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927783" y="4017645"/>
            <a:ext cx="5059680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Market performance and investor discussions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7783" y="4663321"/>
            <a:ext cx="185857" cy="185857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927783" y="4933117"/>
            <a:ext cx="5059680" cy="2286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4" name="Text 8"/>
          <p:cNvSpPr/>
          <p:nvPr/>
        </p:nvSpPr>
        <p:spPr>
          <a:xfrm>
            <a:off x="8927783" y="5071705"/>
            <a:ext cx="23233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Product: 8 articles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927783" y="5547836"/>
            <a:ext cx="5059680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Limited product-focused coverage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27783" y="6193512"/>
            <a:ext cx="185857" cy="185857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927783" y="6463308"/>
            <a:ext cx="5059680" cy="2286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8" name="Text 11"/>
          <p:cNvSpPr/>
          <p:nvPr/>
        </p:nvSpPr>
        <p:spPr>
          <a:xfrm>
            <a:off x="8927783" y="6601897"/>
            <a:ext cx="23233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Policy: 1 article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8927783" y="7078028"/>
            <a:ext cx="5059680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Minimal regulatory developments</a:t>
            </a:r>
            <a:endParaRPr lang="en-US" sz="14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1F2DD0-673C-471B-B0B9-B48FB6FFD9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50114" y="7561184"/>
            <a:ext cx="2280286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2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467" y="392430"/>
            <a:ext cx="5298281" cy="44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Overall Sentiment Distribution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115" y="924045"/>
            <a:ext cx="5298281" cy="34731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4039" y="5485328"/>
            <a:ext cx="1755458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42%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396" y="4593312"/>
            <a:ext cx="2140863" cy="21408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19870" y="6912412"/>
            <a:ext cx="1784033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Neutral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99467" y="7220903"/>
            <a:ext cx="4424839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Factual reporting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37352" y="5485328"/>
            <a:ext cx="1755458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32%</a:t>
            </a:r>
            <a:endParaRPr lang="en-US" sz="2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4593312"/>
            <a:ext cx="2140863" cy="21408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23065" y="6912412"/>
            <a:ext cx="1784033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102662" y="7220903"/>
            <a:ext cx="4424958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Favorable framing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1040666" y="5485328"/>
            <a:ext cx="1755458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26%</a:t>
            </a:r>
            <a:endParaRPr lang="en-US" sz="2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8023" y="4593312"/>
            <a:ext cx="2140863" cy="21408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26378" y="6912412"/>
            <a:ext cx="1784033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Negative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9705975" y="7220903"/>
            <a:ext cx="4424958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Critical coverage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99467" y="7609761"/>
            <a:ext cx="13631466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Neutral sentiment dominated, reflecting predominantly informational reporting with positive sentiment outweighing negative.</a:t>
            </a:r>
            <a:endParaRPr lang="en-US" sz="11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F3256F-7AC4-4FF7-9C8C-DFEB2ECF9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8674" y="7615238"/>
            <a:ext cx="2280286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1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3196" y="654010"/>
            <a:ext cx="7730371" cy="717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Sentiment Trend Over Time</a:t>
            </a:r>
            <a:endParaRPr lang="en-US" sz="4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96" y="1973460"/>
            <a:ext cx="6603444" cy="5157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973461"/>
            <a:ext cx="1147524" cy="17812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38078" y="2202894"/>
            <a:ext cx="286893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Negative Declined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10338078" y="2790944"/>
            <a:ext cx="3496747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16 to 10 articles, indicating less critical coverage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3754755"/>
            <a:ext cx="1147524" cy="17812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38078" y="3984188"/>
            <a:ext cx="286893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Neutral Increased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10338078" y="4572238"/>
            <a:ext cx="3496747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16 to 24 articles, shift toward factual reporting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5536049"/>
            <a:ext cx="1147524" cy="17812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338078" y="5765483"/>
            <a:ext cx="286893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Positive Decreased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10338078" y="6353532"/>
            <a:ext cx="3496747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18 to 13 articles, reduced favorable framing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744420-1BB8-45E4-9386-4210E584DE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8322" y="7534751"/>
            <a:ext cx="2280286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19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42" y="2328029"/>
            <a:ext cx="7496294" cy="49975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365760"/>
            <a:ext cx="1337405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 Media Sources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835390" y="2328028"/>
            <a:ext cx="5452110" cy="4997530"/>
          </a:xfrm>
          <a:prstGeom prst="roundRect">
            <a:avLst>
              <a:gd name="adj" fmla="val 2464"/>
            </a:avLst>
          </a:prstGeom>
          <a:solidFill>
            <a:srgbClr val="001D4D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153" y="2788801"/>
            <a:ext cx="308491" cy="2468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6460" y="2674620"/>
            <a:ext cx="3750826" cy="4093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Finding:</a:t>
            </a: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Coverage was distributed across multiple publishers with no single outlet dominating. The Times of India led with ~8 articles, followed by Electrek and Yahoo Entertainment. This dispersion suggests broad but moderate media attention.</a:t>
            </a: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0AF6A8-AAEB-4023-B48D-9CBD3EB81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8674" y="7563802"/>
            <a:ext cx="2280286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6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31677"/>
            <a:ext cx="7135773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Brand Mention Analysis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450783"/>
            <a:ext cx="5689760" cy="4531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8607" y="2574131"/>
            <a:ext cx="32585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77%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7035165" y="369701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Secondary Mentions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948607" y="4329351"/>
            <a:ext cx="32585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Tesla referenced within broader industry or market discussions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515600" y="2574131"/>
            <a:ext cx="32585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23%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10602158" y="369701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Primary Focus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515600" y="4329351"/>
            <a:ext cx="32585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Articles with Tesla as main subject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948607" y="5791438"/>
            <a:ext cx="6825496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Tesla frequently appeared in wider contexts rather than being the sole coverage focus, indicating steady brand visibility across industry narratives.</a:t>
            </a:r>
            <a:endParaRPr lang="en-US" sz="1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20A9B6-546F-4051-A675-F1D1BCFD8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114" y="7521773"/>
            <a:ext cx="2280286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3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88921"/>
            <a:ext cx="7677150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Analytical Takeaways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153841"/>
            <a:ext cx="6327934" cy="2272546"/>
          </a:xfrm>
          <a:prstGeom prst="roundRect">
            <a:avLst>
              <a:gd name="adj" fmla="val 6438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153841"/>
            <a:ext cx="121920" cy="2272546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2431137"/>
            <a:ext cx="350484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Stable Coverage Pattern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2535" y="2964656"/>
            <a:ext cx="5681901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Media coverage remained stable with no volatility-driven risk indicators or sudden attention shifts during the analysis period.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549" y="2153841"/>
            <a:ext cx="6328053" cy="2272546"/>
          </a:xfrm>
          <a:prstGeom prst="roundRect">
            <a:avLst>
              <a:gd name="adj" fmla="val 6438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8069" y="2153841"/>
            <a:ext cx="121920" cy="2272546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9" name="Text 7"/>
          <p:cNvSpPr/>
          <p:nvPr/>
        </p:nvSpPr>
        <p:spPr>
          <a:xfrm>
            <a:off x="7807285" y="2431137"/>
            <a:ext cx="500681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Narrative Dominance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807285" y="2964656"/>
            <a:ext cx="568202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topics dominated coverage, reinforcing an innovation-centric media perception of the brand.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3798" y="4673203"/>
            <a:ext cx="6327934" cy="2667357"/>
          </a:xfrm>
          <a:prstGeom prst="roundRect">
            <a:avLst>
              <a:gd name="adj" fmla="val 5485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318" y="4673203"/>
            <a:ext cx="121920" cy="2667357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2535" y="4950500"/>
            <a:ext cx="379571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Sentiment Normalization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2535" y="5484019"/>
            <a:ext cx="5681901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Neutral sentiment increased over time, indicating shift toward factual and informational reporting with reduced critical framing.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4673203"/>
            <a:ext cx="6328053" cy="2667357"/>
          </a:xfrm>
          <a:prstGeom prst="roundRect">
            <a:avLst>
              <a:gd name="adj" fmla="val 5485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8069" y="4673203"/>
            <a:ext cx="121920" cy="2667357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17" name="Text 15"/>
          <p:cNvSpPr/>
          <p:nvPr/>
        </p:nvSpPr>
        <p:spPr>
          <a:xfrm>
            <a:off x="7807285" y="4950500"/>
            <a:ext cx="482869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Distributed Publisher Landscape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807285" y="5484019"/>
            <a:ext cx="568202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Coverage spread across multiple publishers reduces concentration risk and indicates broad industry relevance.</a:t>
            </a:r>
            <a:endParaRPr lang="en-US" sz="1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8D7AE8-918E-4123-923D-C50F6DD77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0114" y="7617857"/>
            <a:ext cx="2280286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405" y="848558"/>
            <a:ext cx="7611189" cy="1368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Strategic Observations &amp; Recommendations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05" y="2545437"/>
            <a:ext cx="1094899" cy="16118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80260" y="2764393"/>
            <a:ext cx="4135160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 Technology Narratives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080260" y="3237786"/>
            <a:ext cx="6297335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Track technology-focused coverage for early indicators of product or innovation-related narrative shifts.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405" y="4157305"/>
            <a:ext cx="1094899" cy="16118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80260" y="4376261"/>
            <a:ext cx="313670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Track Finance Coverage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080260" y="4849654"/>
            <a:ext cx="6297335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 finance-related discussions closely during earnings announcements or major market movements.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405" y="5769173"/>
            <a:ext cx="1094899" cy="16118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80260" y="5988129"/>
            <a:ext cx="3583305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Increase Primary Mentions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080260" y="6461522"/>
            <a:ext cx="6297335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 proactive media engagement strategies to drive higher share of primary brand mentions in coverage.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89372"/>
            <a:ext cx="12204859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Quality, Limitations &amp; Closing Notes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0776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2709982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Articles collected via NewsAPI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3191113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Rule-based classification framework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3672245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URL-level deduplication applied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4153376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Timestamp normalization to UTC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3798" y="4634508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Coding consistency checks performed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20776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Known Limitations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23929" y="2709982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Analysis based on limited time window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3191113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English-language articles only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23929" y="3672245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Rule-based coding may classify nuanced topics under "Other"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23929" y="4548187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Secondary mentions may underrepresent brand prominence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63798" y="5701784"/>
            <a:ext cx="12902803" cy="1838325"/>
          </a:xfrm>
          <a:prstGeom prst="roundRect">
            <a:avLst>
              <a:gd name="adj" fmla="val 5639"/>
            </a:avLst>
          </a:prstGeom>
          <a:solidFill>
            <a:srgbClr val="001D4D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15" y="6076236"/>
            <a:ext cx="308491" cy="24681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65923" y="6010275"/>
            <a:ext cx="1185386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report provides structured analysis of recent media coverage. Results should be interpreted within the context of the specified time window and data collection parameters</a:t>
            </a:r>
            <a:endParaRPr lang="en-US" sz="1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73DA077-D88B-4DB0-86D2-445F144B6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9210" y="7580234"/>
            <a:ext cx="1821179" cy="647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31245D8-F88A-4CD7-B2BB-83AA8160F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0103" y="7604046"/>
            <a:ext cx="2280286" cy="600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616</Words>
  <Application>Microsoft Office PowerPoint</Application>
  <PresentationFormat>Custom</PresentationFormat>
  <Paragraphs>101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AKINFRA ACCOUNT</dc:creator>
  <cp:lastModifiedBy>AKINFRA ACCOUNT</cp:lastModifiedBy>
  <cp:revision>4</cp:revision>
  <dcterms:created xsi:type="dcterms:W3CDTF">2025-12-24T18:56:22Z</dcterms:created>
  <dcterms:modified xsi:type="dcterms:W3CDTF">2025-12-24T19:46:16Z</dcterms:modified>
</cp:coreProperties>
</file>